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8" r:id="rId3"/>
    <p:sldId id="259" r:id="rId4"/>
    <p:sldId id="262" r:id="rId5"/>
    <p:sldId id="263" r:id="rId6"/>
    <p:sldId id="258" r:id="rId7"/>
    <p:sldId id="260" r:id="rId8"/>
    <p:sldId id="261" r:id="rId9"/>
    <p:sldId id="267" r:id="rId10"/>
    <p:sldId id="26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1" d="100"/>
          <a:sy n="91" d="100"/>
        </p:scale>
        <p:origin x="121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904680"/>
          </a:xfrm>
        </p:spPr>
        <p:txBody>
          <a:bodyPr/>
          <a:lstStyle/>
          <a:p>
            <a:r>
              <a:rPr b="1" i="1" dirty="0"/>
              <a:t>Cross-Selling Marketing Strategy</a:t>
            </a:r>
          </a:p>
        </p:txBody>
      </p:sp>
      <p:sp>
        <p:nvSpPr>
          <p:cNvPr id="3" name="Subtitle 2"/>
          <p:cNvSpPr>
            <a:spLocks noGrp="1"/>
          </p:cNvSpPr>
          <p:nvPr>
            <p:ph type="subTitle" idx="1"/>
          </p:nvPr>
        </p:nvSpPr>
        <p:spPr>
          <a:xfrm>
            <a:off x="1304488" y="4163037"/>
            <a:ext cx="6400800" cy="1752600"/>
          </a:xfrm>
        </p:spPr>
        <p:txBody>
          <a:bodyPr/>
          <a:lstStyle/>
          <a:p>
            <a:r>
              <a:rPr b="1" dirty="0">
                <a:solidFill>
                  <a:schemeClr val="tx1"/>
                </a:solidFill>
              </a:rPr>
              <a:t>Presented by Srikant Behera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8C91F1-AED4-3686-8BB7-C5E4D0A68082}"/>
              </a:ext>
            </a:extLst>
          </p:cNvPr>
          <p:cNvSpPr>
            <a:spLocks noGrp="1"/>
          </p:cNvSpPr>
          <p:nvPr>
            <p:ph idx="1"/>
          </p:nvPr>
        </p:nvSpPr>
        <p:spPr/>
        <p:txBody>
          <a:bodyPr>
            <a:normAutofit/>
          </a:bodyPr>
          <a:lstStyle/>
          <a:p>
            <a:r>
              <a:rPr lang="en-US" sz="2400" dirty="0"/>
              <a:t>Cross-selling is the action or practice of selling an additional product or service to an existing customer. In practice, businesses define cross-selling in many different ways.</a:t>
            </a:r>
          </a:p>
          <a:p>
            <a:r>
              <a:rPr lang="en-US" sz="2400" dirty="0"/>
              <a:t> Elements that might influence the definition might include the size of the business, the industry sector it operates within and the financial motivations of those required to define the term.</a:t>
            </a:r>
            <a:endParaRPr lang="en-IN" sz="2400" dirty="0"/>
          </a:p>
        </p:txBody>
      </p:sp>
      <p:sp>
        <p:nvSpPr>
          <p:cNvPr id="4" name="TextBox 3">
            <a:extLst>
              <a:ext uri="{FF2B5EF4-FFF2-40B4-BE49-F238E27FC236}">
                <a16:creationId xmlns:a16="http://schemas.microsoft.com/office/drawing/2014/main" id="{55D6F9B4-B235-5ADF-7897-F9E527EA7D54}"/>
              </a:ext>
            </a:extLst>
          </p:cNvPr>
          <p:cNvSpPr txBox="1"/>
          <p:nvPr/>
        </p:nvSpPr>
        <p:spPr>
          <a:xfrm>
            <a:off x="578840" y="872687"/>
            <a:ext cx="6300132" cy="400110"/>
          </a:xfrm>
          <a:prstGeom prst="rect">
            <a:avLst/>
          </a:prstGeom>
          <a:noFill/>
        </p:spPr>
        <p:txBody>
          <a:bodyPr wrap="square" rtlCol="0">
            <a:spAutoFit/>
          </a:bodyPr>
          <a:lstStyle/>
          <a:p>
            <a:r>
              <a:rPr lang="en-US" sz="2000" b="1" dirty="0"/>
              <a:t>Cross Selling Marketing Strategy:</a:t>
            </a:r>
            <a:endParaRPr lang="en-IN" sz="2000" b="1" dirty="0"/>
          </a:p>
        </p:txBody>
      </p:sp>
    </p:spTree>
    <p:extLst>
      <p:ext uri="{BB962C8B-B14F-4D97-AF65-F5344CB8AC3E}">
        <p14:creationId xmlns:p14="http://schemas.microsoft.com/office/powerpoint/2010/main" val="4118815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5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14974" y="2332139"/>
            <a:ext cx="6514052" cy="92658"/>
          </a:xfrm>
        </p:spPr>
        <p:txBody>
          <a:bodyPr>
            <a:normAutofit fontScale="90000"/>
          </a:bodyPr>
          <a:lstStyle/>
          <a:p>
            <a:endParaRPr dirty="0"/>
          </a:p>
        </p:txBody>
      </p:sp>
      <p:pic>
        <p:nvPicPr>
          <p:cNvPr id="10" name="Content Placeholder 9">
            <a:extLst>
              <a:ext uri="{FF2B5EF4-FFF2-40B4-BE49-F238E27FC236}">
                <a16:creationId xmlns:a16="http://schemas.microsoft.com/office/drawing/2014/main" id="{18D4B76E-BE64-7C69-7EC2-55E8C2C5ECE5}"/>
              </a:ext>
            </a:extLst>
          </p:cNvPr>
          <p:cNvPicPr>
            <a:picLocks noGrp="1" noChangeAspect="1"/>
          </p:cNvPicPr>
          <p:nvPr>
            <p:ph idx="1"/>
          </p:nvPr>
        </p:nvPicPr>
        <p:blipFill>
          <a:blip r:embed="rId2"/>
          <a:stretch>
            <a:fillRect/>
          </a:stretch>
        </p:blipFill>
        <p:spPr>
          <a:xfrm>
            <a:off x="333463" y="2004969"/>
            <a:ext cx="8477074" cy="4514172"/>
          </a:xfrm>
        </p:spPr>
      </p:pic>
      <p:sp>
        <p:nvSpPr>
          <p:cNvPr id="11" name="TextBox 10">
            <a:extLst>
              <a:ext uri="{FF2B5EF4-FFF2-40B4-BE49-F238E27FC236}">
                <a16:creationId xmlns:a16="http://schemas.microsoft.com/office/drawing/2014/main" id="{0C8AD8DB-1C3C-C0F6-3EFE-9E217FFD7C80}"/>
              </a:ext>
            </a:extLst>
          </p:cNvPr>
          <p:cNvSpPr txBox="1"/>
          <p:nvPr/>
        </p:nvSpPr>
        <p:spPr>
          <a:xfrm>
            <a:off x="333463" y="870256"/>
            <a:ext cx="8229600" cy="923330"/>
          </a:xfrm>
          <a:prstGeom prst="rect">
            <a:avLst/>
          </a:prstGeom>
          <a:noFill/>
        </p:spPr>
        <p:txBody>
          <a:bodyPr wrap="square" rtlCol="0">
            <a:spAutoFit/>
          </a:bodyPr>
          <a:lstStyle/>
          <a:p>
            <a:pPr marL="285750" indent="-285750">
              <a:buFont typeface="Wingdings" panose="05000000000000000000" pitchFamily="2" charset="2"/>
              <a:buChar char="§"/>
            </a:pPr>
            <a:r>
              <a:rPr lang="en-US" dirty="0"/>
              <a:t>Cold leads are the highest, meaning most customers show low initial interest and need more awareness and  personalized premium discounts.. Hot leads are the fewest, so the sales team should prioritize them because they convert the fastest.</a:t>
            </a:r>
            <a:endParaRPr lang="en-IN" dirty="0"/>
          </a:p>
        </p:txBody>
      </p:sp>
      <p:sp>
        <p:nvSpPr>
          <p:cNvPr id="13" name="TextBox 12">
            <a:extLst>
              <a:ext uri="{FF2B5EF4-FFF2-40B4-BE49-F238E27FC236}">
                <a16:creationId xmlns:a16="http://schemas.microsoft.com/office/drawing/2014/main" id="{D36782F6-2EBB-EC98-8BAA-CE3A3B16C32D}"/>
              </a:ext>
            </a:extLst>
          </p:cNvPr>
          <p:cNvSpPr txBox="1"/>
          <p:nvPr/>
        </p:nvSpPr>
        <p:spPr>
          <a:xfrm>
            <a:off x="402671" y="289541"/>
            <a:ext cx="6845417" cy="369332"/>
          </a:xfrm>
          <a:prstGeom prst="rect">
            <a:avLst/>
          </a:prstGeom>
          <a:noFill/>
        </p:spPr>
        <p:txBody>
          <a:bodyPr wrap="square" rtlCol="0">
            <a:spAutoFit/>
          </a:bodyPr>
          <a:lstStyle/>
          <a:p>
            <a:r>
              <a:rPr lang="en-US" b="1" dirty="0"/>
              <a:t>Distribution of Ratings:</a:t>
            </a:r>
            <a:endParaRPr lang="en-IN"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4870" y="2984282"/>
            <a:ext cx="4513278" cy="1143000"/>
          </a:xfrm>
        </p:spPr>
        <p:txBody>
          <a:bodyPr/>
          <a:lstStyle/>
          <a:p>
            <a:endParaRPr dirty="0"/>
          </a:p>
        </p:txBody>
      </p:sp>
      <p:pic>
        <p:nvPicPr>
          <p:cNvPr id="6" name="Picture 5">
            <a:extLst>
              <a:ext uri="{FF2B5EF4-FFF2-40B4-BE49-F238E27FC236}">
                <a16:creationId xmlns:a16="http://schemas.microsoft.com/office/drawing/2014/main" id="{8370173C-A7BC-17D1-88E3-13E4E4297B32}"/>
              </a:ext>
            </a:extLst>
          </p:cNvPr>
          <p:cNvPicPr>
            <a:picLocks noChangeAspect="1"/>
          </p:cNvPicPr>
          <p:nvPr/>
        </p:nvPicPr>
        <p:blipFill>
          <a:blip r:embed="rId2"/>
          <a:stretch>
            <a:fillRect/>
          </a:stretch>
        </p:blipFill>
        <p:spPr>
          <a:xfrm>
            <a:off x="243280" y="2248249"/>
            <a:ext cx="8430936" cy="4322427"/>
          </a:xfrm>
          <a:prstGeom prst="rect">
            <a:avLst/>
          </a:prstGeom>
        </p:spPr>
      </p:pic>
      <p:sp>
        <p:nvSpPr>
          <p:cNvPr id="11" name="TextBox 10">
            <a:extLst>
              <a:ext uri="{FF2B5EF4-FFF2-40B4-BE49-F238E27FC236}">
                <a16:creationId xmlns:a16="http://schemas.microsoft.com/office/drawing/2014/main" id="{81B5685E-54B5-0A19-F36B-B5E46A8F45BA}"/>
              </a:ext>
            </a:extLst>
          </p:cNvPr>
          <p:cNvSpPr txBox="1"/>
          <p:nvPr/>
        </p:nvSpPr>
        <p:spPr>
          <a:xfrm>
            <a:off x="314586" y="715161"/>
            <a:ext cx="8288324" cy="1754326"/>
          </a:xfrm>
          <a:prstGeom prst="rect">
            <a:avLst/>
          </a:prstGeom>
          <a:noFill/>
        </p:spPr>
        <p:txBody>
          <a:bodyPr wrap="square" rtlCol="0">
            <a:spAutoFit/>
          </a:bodyPr>
          <a:lstStyle/>
          <a:p>
            <a:pPr marL="285750" indent="-285750">
              <a:buFont typeface="Wingdings" panose="05000000000000000000" pitchFamily="2" charset="2"/>
              <a:buChar char="§"/>
            </a:pPr>
            <a:r>
              <a:rPr lang="en-US" dirty="0"/>
              <a:t>Focus marketing on married customers because they are the biggest group. Promote family protection plans or child future plans for married people. For single customers offer simple, low-cost protection or investment starter plans. For divorced customers promote financial security products like health cover or retirement plans.</a:t>
            </a:r>
          </a:p>
          <a:p>
            <a:endParaRPr lang="en-IN" dirty="0"/>
          </a:p>
        </p:txBody>
      </p:sp>
      <p:sp>
        <p:nvSpPr>
          <p:cNvPr id="12" name="TextBox 11">
            <a:extLst>
              <a:ext uri="{FF2B5EF4-FFF2-40B4-BE49-F238E27FC236}">
                <a16:creationId xmlns:a16="http://schemas.microsoft.com/office/drawing/2014/main" id="{D9760028-5AE8-8A99-3115-7B24569E8713}"/>
              </a:ext>
            </a:extLst>
          </p:cNvPr>
          <p:cNvSpPr txBox="1"/>
          <p:nvPr/>
        </p:nvSpPr>
        <p:spPr>
          <a:xfrm>
            <a:off x="461394" y="360727"/>
            <a:ext cx="5503178" cy="369332"/>
          </a:xfrm>
          <a:prstGeom prst="rect">
            <a:avLst/>
          </a:prstGeom>
          <a:noFill/>
        </p:spPr>
        <p:txBody>
          <a:bodyPr wrap="square" rtlCol="0">
            <a:spAutoFit/>
          </a:bodyPr>
          <a:lstStyle/>
          <a:p>
            <a:r>
              <a:rPr lang="en-US" b="1" dirty="0"/>
              <a:t>Marital Status impact on target:</a:t>
            </a:r>
            <a:endParaRPr lang="en-IN"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3299" y="3791823"/>
            <a:ext cx="4739780" cy="813631"/>
          </a:xfrm>
        </p:spPr>
        <p:txBody>
          <a:bodyPr/>
          <a:lstStyle/>
          <a:p>
            <a:endParaRPr dirty="0"/>
          </a:p>
        </p:txBody>
      </p:sp>
      <p:pic>
        <p:nvPicPr>
          <p:cNvPr id="5" name="Content Placeholder 4">
            <a:extLst>
              <a:ext uri="{FF2B5EF4-FFF2-40B4-BE49-F238E27FC236}">
                <a16:creationId xmlns:a16="http://schemas.microsoft.com/office/drawing/2014/main" id="{DA638DA7-6A1E-E99B-B0C3-BCE497FFCA7A}"/>
              </a:ext>
            </a:extLst>
          </p:cNvPr>
          <p:cNvPicPr>
            <a:picLocks noGrp="1" noChangeAspect="1"/>
          </p:cNvPicPr>
          <p:nvPr>
            <p:ph idx="1"/>
          </p:nvPr>
        </p:nvPicPr>
        <p:blipFill>
          <a:blip r:embed="rId2"/>
          <a:stretch>
            <a:fillRect/>
          </a:stretch>
        </p:blipFill>
        <p:spPr>
          <a:xfrm>
            <a:off x="369116" y="2080469"/>
            <a:ext cx="8464491" cy="4530055"/>
          </a:xfrm>
        </p:spPr>
      </p:pic>
      <p:sp>
        <p:nvSpPr>
          <p:cNvPr id="6" name="TextBox 5">
            <a:extLst>
              <a:ext uri="{FF2B5EF4-FFF2-40B4-BE49-F238E27FC236}">
                <a16:creationId xmlns:a16="http://schemas.microsoft.com/office/drawing/2014/main" id="{E30984B0-83F9-ED20-0E7E-0C2787C15E30}"/>
              </a:ext>
            </a:extLst>
          </p:cNvPr>
          <p:cNvSpPr txBox="1"/>
          <p:nvPr/>
        </p:nvSpPr>
        <p:spPr>
          <a:xfrm>
            <a:off x="385893" y="975220"/>
            <a:ext cx="8464491" cy="914400"/>
          </a:xfrm>
          <a:prstGeom prst="rect">
            <a:avLst/>
          </a:prstGeom>
          <a:noFill/>
        </p:spPr>
        <p:txBody>
          <a:bodyPr wrap="square" rtlCol="0">
            <a:spAutoFit/>
          </a:bodyPr>
          <a:lstStyle/>
          <a:p>
            <a:pPr marL="285750" indent="-285750">
              <a:buFont typeface="Wingdings" panose="05000000000000000000" pitchFamily="2" charset="2"/>
              <a:buChar char="§"/>
            </a:pPr>
            <a:r>
              <a:rPr lang="en-US" dirty="0"/>
              <a:t>Most customers have families of 3–5 members. Cross-sell family health insurance, child education, or life protection bundles. Large family groups (&gt;6) can be approached with group or senior plans.</a:t>
            </a:r>
            <a:endParaRPr lang="en-IN" dirty="0"/>
          </a:p>
        </p:txBody>
      </p:sp>
      <p:sp>
        <p:nvSpPr>
          <p:cNvPr id="7" name="TextBox 6">
            <a:extLst>
              <a:ext uri="{FF2B5EF4-FFF2-40B4-BE49-F238E27FC236}">
                <a16:creationId xmlns:a16="http://schemas.microsoft.com/office/drawing/2014/main" id="{B3CA3E9F-12D2-3C53-F156-91B85C00B317}"/>
              </a:ext>
            </a:extLst>
          </p:cNvPr>
          <p:cNvSpPr txBox="1"/>
          <p:nvPr/>
        </p:nvSpPr>
        <p:spPr>
          <a:xfrm>
            <a:off x="453006" y="486561"/>
            <a:ext cx="6040073" cy="369332"/>
          </a:xfrm>
          <a:prstGeom prst="rect">
            <a:avLst/>
          </a:prstGeom>
          <a:noFill/>
        </p:spPr>
        <p:txBody>
          <a:bodyPr wrap="square" rtlCol="0">
            <a:spAutoFit/>
          </a:bodyPr>
          <a:lstStyle/>
          <a:p>
            <a:r>
              <a:rPr lang="en-US" b="1" dirty="0"/>
              <a:t>Impact of family members on Purchase:</a:t>
            </a:r>
            <a:endParaRPr lang="en-IN"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312" y="3892390"/>
            <a:ext cx="8229600" cy="1143000"/>
          </a:xfrm>
        </p:spPr>
        <p:txBody>
          <a:bodyPr>
            <a:normAutofit/>
          </a:bodyPr>
          <a:lstStyle/>
          <a:p>
            <a:endParaRPr sz="1200" dirty="0"/>
          </a:p>
        </p:txBody>
      </p:sp>
      <p:pic>
        <p:nvPicPr>
          <p:cNvPr id="10" name="Picture 9">
            <a:extLst>
              <a:ext uri="{FF2B5EF4-FFF2-40B4-BE49-F238E27FC236}">
                <a16:creationId xmlns:a16="http://schemas.microsoft.com/office/drawing/2014/main" id="{A1521DFA-3319-7AC5-F5AC-49676513CEAD}"/>
              </a:ext>
            </a:extLst>
          </p:cNvPr>
          <p:cNvPicPr>
            <a:picLocks noChangeAspect="1"/>
          </p:cNvPicPr>
          <p:nvPr/>
        </p:nvPicPr>
        <p:blipFill>
          <a:blip r:embed="rId2"/>
          <a:stretch>
            <a:fillRect/>
          </a:stretch>
        </p:blipFill>
        <p:spPr>
          <a:xfrm>
            <a:off x="226502" y="1746904"/>
            <a:ext cx="8690994" cy="4880398"/>
          </a:xfrm>
          <a:prstGeom prst="rect">
            <a:avLst/>
          </a:prstGeom>
        </p:spPr>
      </p:pic>
      <p:sp>
        <p:nvSpPr>
          <p:cNvPr id="11" name="TextBox 10">
            <a:extLst>
              <a:ext uri="{FF2B5EF4-FFF2-40B4-BE49-F238E27FC236}">
                <a16:creationId xmlns:a16="http://schemas.microsoft.com/office/drawing/2014/main" id="{A0DF6AA0-B82C-3469-20CF-3FB37F34299D}"/>
              </a:ext>
            </a:extLst>
          </p:cNvPr>
          <p:cNvSpPr txBox="1"/>
          <p:nvPr/>
        </p:nvSpPr>
        <p:spPr>
          <a:xfrm>
            <a:off x="327169" y="897974"/>
            <a:ext cx="8489659" cy="646331"/>
          </a:xfrm>
          <a:prstGeom prst="rect">
            <a:avLst/>
          </a:prstGeom>
          <a:noFill/>
        </p:spPr>
        <p:txBody>
          <a:bodyPr wrap="square" rtlCol="0">
            <a:spAutoFit/>
          </a:bodyPr>
          <a:lstStyle/>
          <a:p>
            <a:pPr marL="285750" indent="-285750">
              <a:buFont typeface="Arial" panose="020B0604020202020204" pitchFamily="34" charset="0"/>
              <a:buChar char="•"/>
            </a:pPr>
            <a:r>
              <a:rPr lang="en-US" dirty="0"/>
              <a:t>The Products ANS &amp; TLE contributes the highest coverage so we can focuses on this products type and providing  discounts, offers on ANS and TLE. </a:t>
            </a:r>
            <a:endParaRPr lang="en-IN" dirty="0"/>
          </a:p>
        </p:txBody>
      </p:sp>
      <p:sp>
        <p:nvSpPr>
          <p:cNvPr id="13" name="TextBox 12">
            <a:extLst>
              <a:ext uri="{FF2B5EF4-FFF2-40B4-BE49-F238E27FC236}">
                <a16:creationId xmlns:a16="http://schemas.microsoft.com/office/drawing/2014/main" id="{7357D591-C124-85CF-AEC5-9FB2B4BC7044}"/>
              </a:ext>
            </a:extLst>
          </p:cNvPr>
          <p:cNvSpPr txBox="1"/>
          <p:nvPr/>
        </p:nvSpPr>
        <p:spPr>
          <a:xfrm>
            <a:off x="327170" y="387632"/>
            <a:ext cx="4572000" cy="369332"/>
          </a:xfrm>
          <a:prstGeom prst="rect">
            <a:avLst/>
          </a:prstGeom>
          <a:noFill/>
        </p:spPr>
        <p:txBody>
          <a:bodyPr wrap="square">
            <a:spAutoFit/>
          </a:bodyPr>
          <a:lstStyle/>
          <a:p>
            <a:r>
              <a:rPr lang="en-US" b="1" dirty="0"/>
              <a:t>Product wise new coverage: </a:t>
            </a:r>
            <a:endParaRPr lang="en-IN"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7219" y="2392858"/>
            <a:ext cx="5012422" cy="1143000"/>
          </a:xfrm>
        </p:spPr>
        <p:txBody>
          <a:bodyPr>
            <a:normAutofit fontScale="90000"/>
          </a:bodyPr>
          <a:lstStyle/>
          <a:p>
            <a:r>
              <a:rPr dirty="0"/>
              <a:t>Income Insight </a:t>
            </a:r>
            <a:r>
              <a:rPr dirty="0" err="1"/>
              <a:t>Visualizatio</a:t>
            </a:r>
            <a:endParaRPr dirty="0"/>
          </a:p>
        </p:txBody>
      </p:sp>
      <p:pic>
        <p:nvPicPr>
          <p:cNvPr id="5" name="Picture 4">
            <a:extLst>
              <a:ext uri="{FF2B5EF4-FFF2-40B4-BE49-F238E27FC236}">
                <a16:creationId xmlns:a16="http://schemas.microsoft.com/office/drawing/2014/main" id="{9B8C013E-FD00-B964-DB5B-51C1541F0D65}"/>
              </a:ext>
            </a:extLst>
          </p:cNvPr>
          <p:cNvPicPr>
            <a:picLocks noChangeAspect="1"/>
          </p:cNvPicPr>
          <p:nvPr/>
        </p:nvPicPr>
        <p:blipFill>
          <a:blip r:embed="rId2"/>
          <a:stretch>
            <a:fillRect/>
          </a:stretch>
        </p:blipFill>
        <p:spPr>
          <a:xfrm>
            <a:off x="218115" y="1686187"/>
            <a:ext cx="8791662" cy="4999838"/>
          </a:xfrm>
          <a:prstGeom prst="rect">
            <a:avLst/>
          </a:prstGeom>
        </p:spPr>
      </p:pic>
      <p:sp>
        <p:nvSpPr>
          <p:cNvPr id="6" name="TextBox 5">
            <a:extLst>
              <a:ext uri="{FF2B5EF4-FFF2-40B4-BE49-F238E27FC236}">
                <a16:creationId xmlns:a16="http://schemas.microsoft.com/office/drawing/2014/main" id="{CE866520-0139-E989-F31C-6C16CEB8DB04}"/>
              </a:ext>
            </a:extLst>
          </p:cNvPr>
          <p:cNvSpPr txBox="1"/>
          <p:nvPr/>
        </p:nvSpPr>
        <p:spPr>
          <a:xfrm>
            <a:off x="297809" y="818304"/>
            <a:ext cx="8418352" cy="646331"/>
          </a:xfrm>
          <a:prstGeom prst="rect">
            <a:avLst/>
          </a:prstGeom>
          <a:noFill/>
        </p:spPr>
        <p:txBody>
          <a:bodyPr wrap="square" rtlCol="0">
            <a:spAutoFit/>
          </a:bodyPr>
          <a:lstStyle/>
          <a:p>
            <a:pPr marL="285750" indent="-285750">
              <a:buFont typeface="Wingdings" panose="05000000000000000000" pitchFamily="2" charset="2"/>
              <a:buChar char="§"/>
            </a:pPr>
            <a:r>
              <a:rPr lang="en-US" dirty="0"/>
              <a:t>Educated people buy more, so target them first. For less-educated groups, use simple explanations, guidance, and small offers to increase their interest</a:t>
            </a:r>
            <a:endParaRPr lang="en-IN" dirty="0"/>
          </a:p>
        </p:txBody>
      </p:sp>
      <p:sp>
        <p:nvSpPr>
          <p:cNvPr id="8" name="TextBox 7">
            <a:extLst>
              <a:ext uri="{FF2B5EF4-FFF2-40B4-BE49-F238E27FC236}">
                <a16:creationId xmlns:a16="http://schemas.microsoft.com/office/drawing/2014/main" id="{56533D3F-AB60-9141-A61A-98986C68E277}"/>
              </a:ext>
            </a:extLst>
          </p:cNvPr>
          <p:cNvSpPr txBox="1"/>
          <p:nvPr/>
        </p:nvSpPr>
        <p:spPr>
          <a:xfrm>
            <a:off x="218115" y="338196"/>
            <a:ext cx="4572000" cy="369332"/>
          </a:xfrm>
          <a:prstGeom prst="rect">
            <a:avLst/>
          </a:prstGeom>
          <a:noFill/>
        </p:spPr>
        <p:txBody>
          <a:bodyPr wrap="square">
            <a:spAutoFit/>
          </a:bodyPr>
          <a:lstStyle/>
          <a:p>
            <a:r>
              <a:rPr lang="en-US" b="1" dirty="0"/>
              <a:t>Education wise conversion rate:</a:t>
            </a:r>
            <a:endParaRPr lang="en-IN"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1905" y="3528670"/>
            <a:ext cx="6660858" cy="486460"/>
          </a:xfrm>
        </p:spPr>
        <p:txBody>
          <a:bodyPr>
            <a:normAutofit fontScale="90000"/>
          </a:bodyPr>
          <a:lstStyle/>
          <a:p>
            <a:endParaRPr dirty="0"/>
          </a:p>
        </p:txBody>
      </p:sp>
      <p:pic>
        <p:nvPicPr>
          <p:cNvPr id="5" name="Content Placeholder 4">
            <a:extLst>
              <a:ext uri="{FF2B5EF4-FFF2-40B4-BE49-F238E27FC236}">
                <a16:creationId xmlns:a16="http://schemas.microsoft.com/office/drawing/2014/main" id="{84795FEA-C7FE-E81C-78CA-1F5881F0304C}"/>
              </a:ext>
            </a:extLst>
          </p:cNvPr>
          <p:cNvPicPr>
            <a:picLocks noGrp="1" noChangeAspect="1"/>
          </p:cNvPicPr>
          <p:nvPr>
            <p:ph idx="1"/>
          </p:nvPr>
        </p:nvPicPr>
        <p:blipFill>
          <a:blip r:embed="rId2"/>
          <a:stretch>
            <a:fillRect/>
          </a:stretch>
        </p:blipFill>
        <p:spPr>
          <a:xfrm>
            <a:off x="444616" y="1761688"/>
            <a:ext cx="8355435" cy="4899171"/>
          </a:xfrm>
        </p:spPr>
      </p:pic>
      <p:sp>
        <p:nvSpPr>
          <p:cNvPr id="6" name="TextBox 5">
            <a:extLst>
              <a:ext uri="{FF2B5EF4-FFF2-40B4-BE49-F238E27FC236}">
                <a16:creationId xmlns:a16="http://schemas.microsoft.com/office/drawing/2014/main" id="{1A2BC6D9-9C5C-E951-F70D-689701BBBB4C}"/>
              </a:ext>
            </a:extLst>
          </p:cNvPr>
          <p:cNvSpPr txBox="1"/>
          <p:nvPr/>
        </p:nvSpPr>
        <p:spPr>
          <a:xfrm>
            <a:off x="461394" y="882941"/>
            <a:ext cx="7986320" cy="646331"/>
          </a:xfrm>
          <a:prstGeom prst="rect">
            <a:avLst/>
          </a:prstGeom>
          <a:noFill/>
        </p:spPr>
        <p:txBody>
          <a:bodyPr wrap="square" rtlCol="0">
            <a:spAutoFit/>
          </a:bodyPr>
          <a:lstStyle/>
          <a:p>
            <a:pPr marL="285750" indent="-285750">
              <a:buFont typeface="Wingdings" panose="05000000000000000000" pitchFamily="2" charset="2"/>
              <a:buChar char="§"/>
            </a:pPr>
            <a:r>
              <a:rPr lang="en-US" dirty="0"/>
              <a:t>Give ‘SPT’ to low-cost protection plans, ‘SE’ to saving or retirement plans.</a:t>
            </a:r>
            <a:br>
              <a:rPr lang="en-US" dirty="0"/>
            </a:br>
            <a:r>
              <a:rPr lang="en-US" dirty="0"/>
              <a:t>for SFT (Software Employees) offer long-term investment or tax-saving plans</a:t>
            </a:r>
            <a:endParaRPr lang="en-IN" dirty="0"/>
          </a:p>
        </p:txBody>
      </p:sp>
      <p:sp>
        <p:nvSpPr>
          <p:cNvPr id="8" name="TextBox 7">
            <a:extLst>
              <a:ext uri="{FF2B5EF4-FFF2-40B4-BE49-F238E27FC236}">
                <a16:creationId xmlns:a16="http://schemas.microsoft.com/office/drawing/2014/main" id="{4BEEE519-ED11-0A9B-BFAA-0236D589EE89}"/>
              </a:ext>
            </a:extLst>
          </p:cNvPr>
          <p:cNvSpPr txBox="1"/>
          <p:nvPr/>
        </p:nvSpPr>
        <p:spPr>
          <a:xfrm>
            <a:off x="461394" y="397401"/>
            <a:ext cx="4572000" cy="369332"/>
          </a:xfrm>
          <a:prstGeom prst="rect">
            <a:avLst/>
          </a:prstGeom>
          <a:noFill/>
        </p:spPr>
        <p:txBody>
          <a:bodyPr wrap="square">
            <a:spAutoFit/>
          </a:bodyPr>
          <a:lstStyle/>
          <a:p>
            <a:r>
              <a:rPr lang="en-US" b="1" dirty="0"/>
              <a:t>Occupation wise conversion rate:</a:t>
            </a:r>
            <a:endParaRPr lang="en-IN"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Insights highlight key customer behavior segments. Cross-selling success improves with targeting, satisfaction, and product awareness.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C69D9-C7BF-7E39-CA3D-A510A7602A0D}"/>
              </a:ext>
            </a:extLst>
          </p:cNvPr>
          <p:cNvSpPr>
            <a:spLocks noGrp="1"/>
          </p:cNvSpPr>
          <p:nvPr>
            <p:ph type="title"/>
          </p:nvPr>
        </p:nvSpPr>
        <p:spPr>
          <a:xfrm>
            <a:off x="457200" y="1929467"/>
            <a:ext cx="8229600" cy="3129093"/>
          </a:xfrm>
        </p:spPr>
        <p:txBody>
          <a:bodyPr>
            <a:normAutofit/>
          </a:bodyPr>
          <a:lstStyle/>
          <a:p>
            <a:r>
              <a:rPr lang="en-US" sz="9600" b="1" dirty="0"/>
              <a:t>Thank YOU!</a:t>
            </a:r>
            <a:endParaRPr lang="en-IN" sz="9600" b="1" dirty="0"/>
          </a:p>
        </p:txBody>
      </p:sp>
      <p:sp>
        <p:nvSpPr>
          <p:cNvPr id="3" name="Content Placeholder 2">
            <a:extLst>
              <a:ext uri="{FF2B5EF4-FFF2-40B4-BE49-F238E27FC236}">
                <a16:creationId xmlns:a16="http://schemas.microsoft.com/office/drawing/2014/main" id="{30649718-0820-67FB-C0A3-6A52CB382687}"/>
              </a:ext>
            </a:extLst>
          </p:cNvPr>
          <p:cNvSpPr>
            <a:spLocks noGrp="1"/>
          </p:cNvSpPr>
          <p:nvPr>
            <p:ph idx="1"/>
          </p:nvPr>
        </p:nvSpPr>
        <p:spPr>
          <a:xfrm flipV="1">
            <a:off x="4572000" y="6694415"/>
            <a:ext cx="4559417" cy="100668"/>
          </a:xfrm>
        </p:spPr>
        <p:txBody>
          <a:bodyPr>
            <a:normAutofit fontScale="25000" lnSpcReduction="20000"/>
          </a:bodyPr>
          <a:lstStyle/>
          <a:p>
            <a:endParaRPr lang="en-IN" dirty="0"/>
          </a:p>
        </p:txBody>
      </p:sp>
    </p:spTree>
    <p:extLst>
      <p:ext uri="{BB962C8B-B14F-4D97-AF65-F5344CB8AC3E}">
        <p14:creationId xmlns:p14="http://schemas.microsoft.com/office/powerpoint/2010/main" val="25866538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335</TotalTime>
  <Words>345</Words>
  <Application>Microsoft Office PowerPoint</Application>
  <PresentationFormat>On-screen Show (4:3)</PresentationFormat>
  <Paragraphs>21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Wingdings</vt:lpstr>
      <vt:lpstr>Office Theme</vt:lpstr>
      <vt:lpstr>Cross-Selling Marketing Strategy</vt:lpstr>
      <vt:lpstr>PowerPoint Presentation</vt:lpstr>
      <vt:lpstr>PowerPoint Presentation</vt:lpstr>
      <vt:lpstr>PowerPoint Presentation</vt:lpstr>
      <vt:lpstr>PowerPoint Presentation</vt:lpstr>
      <vt:lpstr>PowerPoint Presentation</vt:lpstr>
      <vt:lpstr>Income Insight Visualizatio</vt:lpstr>
      <vt:lpstr>PowerPoint Presentation</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Srikant kumar</dc:creator>
  <cp:keywords/>
  <dc:description>generated using python-pptx</dc:description>
  <cp:lastModifiedBy>Srikant kumar</cp:lastModifiedBy>
  <cp:revision>4</cp:revision>
  <dcterms:created xsi:type="dcterms:W3CDTF">2013-01-27T09:14:16Z</dcterms:created>
  <dcterms:modified xsi:type="dcterms:W3CDTF">2025-11-22T05:09:46Z</dcterms:modified>
  <cp:category/>
</cp:coreProperties>
</file>